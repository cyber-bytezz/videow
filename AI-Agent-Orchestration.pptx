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Onest"/>
      <p:regular r:id="rId201315"/>
    </p:embeddedFont>
    <p:embeddedFont>
      <p:font typeface="Onest SemiBold"/>
      <p:regular r:id="rId201316"/>
    </p:embeddedFont>
    <p:embeddedFont>
      <p:font typeface="Ones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4084"/>
            <a:ext cx="10972526" cy="67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b="1" spc="-13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AI Agent Orchestration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09585" y="542548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Designing Intelligent, Scalable, and Collaborative</a:t>
            </a:r>
            <a:endParaRPr lang="en-US" sz="24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Multi-Agent Systems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1000"/>
            <a:ext cx="1697690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425450"/>
            <a:ext cx="207868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 · DEFINITION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779165"/>
            <a:ext cx="6502237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Orchestration turns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LLM calls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into governed systems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914029"/>
            <a:ext cx="6502237" cy="12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Coordinates agents, tools, memory, and policy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Essential once work spans steps, roles, and systems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Enterprise uses: support triage, research, data operations, approvals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40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257865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263885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 · AGENT ANATOMY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An agent is an LLM that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reasons, plans, remembers, and acts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996678"/>
            <a:ext cx="3581310" cy="1815108"/>
          </a:xfrm>
          <a:prstGeom prst="roundRect">
            <a:avLst>
              <a:gd name="adj" fmla="val 671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2231628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529" y="2841228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4529" y="3340298"/>
            <a:ext cx="334636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LLM core interprets intent.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291" y="1996678"/>
            <a:ext cx="3505112" cy="1815108"/>
          </a:xfrm>
          <a:prstGeom prst="roundRect">
            <a:avLst>
              <a:gd name="adj" fmla="val 671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35" y="2231628"/>
            <a:ext cx="507987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8235" y="2841228"/>
            <a:ext cx="30352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Planning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78235" y="3340298"/>
            <a:ext cx="327016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Task decomposition into steps.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00800" y="1996678"/>
            <a:ext cx="3581310" cy="1815108"/>
          </a:xfrm>
          <a:prstGeom prst="roundRect">
            <a:avLst>
              <a:gd name="adj" fmla="val 671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744" y="2231628"/>
            <a:ext cx="507987" cy="508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35744" y="2841228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Memory and context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35744" y="3340298"/>
            <a:ext cx="334636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State carried across turns.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09585" y="3964186"/>
            <a:ext cx="3581310" cy="1815108"/>
          </a:xfrm>
          <a:prstGeom prst="roundRect">
            <a:avLst>
              <a:gd name="adj" fmla="val 671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29" y="4199136"/>
            <a:ext cx="507987" cy="508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529" y="4808736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Tool usage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44529" y="5307806"/>
            <a:ext cx="334636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Calls APIs, data, and files.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43291" y="3964186"/>
            <a:ext cx="3505112" cy="1815108"/>
          </a:xfrm>
          <a:prstGeom prst="roundRect">
            <a:avLst>
              <a:gd name="adj" fmla="val 671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235" y="4199136"/>
            <a:ext cx="507987" cy="508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8235" y="4808736"/>
            <a:ext cx="30352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Autonomous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4578235" y="5307806"/>
            <a:ext cx="327016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Runs within set guardrails.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000800" y="3964186"/>
            <a:ext cx="3581310" cy="1815108"/>
          </a:xfrm>
          <a:prstGeom prst="roundRect">
            <a:avLst>
              <a:gd name="adj" fmla="val 671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5744" y="4199136"/>
            <a:ext cx="507987" cy="5080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35744" y="4808736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Human-supervised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8235744" y="5307806"/>
            <a:ext cx="334636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Approval gates on risk.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921819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230281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 · 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Why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agent orchestration?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48929"/>
          <a:ext cx="10972526" cy="914400"/>
        </p:xfrm>
        <a:graphic>
          <a:graphicData uri="http://schemas.openxmlformats.org/drawingml/2006/table">
            <a:tbl>
              <a:tblPr/>
              <a:tblGrid>
                <a:gridCol w="1849391"/>
                <a:gridCol w="2083939"/>
                <a:gridCol w="2107354"/>
                <a:gridCol w="2274235"/>
                <a:gridCol w="304792"/>
                <a:gridCol w="304792"/>
                <a:gridCol w="935312"/>
                <a:gridCol w="1112710"/>
              </a:tblGrid>
              <a:tr h="80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Dimension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Single-prompt LLM app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Single agent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Multi-agent orchestration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Scalability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Limited by one context window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Bounded by one loop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Scales by adding workers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Specialization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None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Generalist with tools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Role-specific agents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Reliability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No validation step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Self-checks only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Validation and retry stages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Coordination challenge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None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Tool sprawl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Routing, state, conflicts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092074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247306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 ·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Core architecture of an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orchestration system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16361"/>
            <a:ext cx="10972526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621491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200248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05 · PATTERNS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Seven orchestration patterns and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when to use them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781572"/>
            <a:ext cx="2628834" cy="2157214"/>
          </a:xfrm>
          <a:prstGeom prst="roundRect">
            <a:avLst>
              <a:gd name="adj" fmla="val 56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016522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Sequential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4529" y="2515592"/>
            <a:ext cx="2158946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→ B → C. Use: ordered dependencies. Limit: slowest step gates all.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90815" y="1781572"/>
            <a:ext cx="2628834" cy="2157214"/>
          </a:xfrm>
          <a:prstGeom prst="roundRect">
            <a:avLst>
              <a:gd name="adj" fmla="val 56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5759" y="2016522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Parallel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25759" y="2515592"/>
            <a:ext cx="2158946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Fan-out, then merge. Use: independent subtasks. Limit: merge complexity.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046" y="1781572"/>
            <a:ext cx="2628834" cy="2157214"/>
          </a:xfrm>
          <a:prstGeom prst="roundRect">
            <a:avLst>
              <a:gd name="adj" fmla="val 56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6990" y="2016522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Supervisor-worker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6990" y="2515592"/>
            <a:ext cx="2158946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One lead delegates. Use: clear routing. Limit: supervisor bottleneck.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53276" y="1781572"/>
            <a:ext cx="2628834" cy="2157214"/>
          </a:xfrm>
          <a:prstGeom prst="roundRect">
            <a:avLst>
              <a:gd name="adj" fmla="val 56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8220" y="2016522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88220" y="2515592"/>
            <a:ext cx="2158946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Layered managers. Use: large task trees. Limit: added latency per layer.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09585" y="4091186"/>
            <a:ext cx="3555911" cy="2157214"/>
          </a:xfrm>
          <a:prstGeom prst="roundRect">
            <a:avLst>
              <a:gd name="adj" fmla="val 56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529" y="4326136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Peer-to-peer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4529" y="4825206"/>
            <a:ext cx="3086023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Agents negotiate directly. Use: exploratory work. Limit: hard to govern.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17892" y="4091186"/>
            <a:ext cx="3555911" cy="2157214"/>
          </a:xfrm>
          <a:prstGeom prst="roundRect">
            <a:avLst>
              <a:gd name="adj" fmla="val 56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2836" y="4326136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Event-driven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52836" y="4825206"/>
            <a:ext cx="3086023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Agents react to events. Use: async triggers. Limit: harder to trace.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26199" y="4091186"/>
            <a:ext cx="3555911" cy="2157214"/>
          </a:xfrm>
          <a:prstGeom prst="roundRect">
            <a:avLst>
              <a:gd name="adj" fmla="val 56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1143" y="4326136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Human-in-the-loop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61143" y="4825206"/>
            <a:ext cx="3086023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Approval checkpoints. Use: high-risk actions. Limit: human latency.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666933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204792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06 · LIFECYCLE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End-to-end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execution lifecycle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63986"/>
            <a:ext cx="10972526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270862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265185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07 · COMMUNICATION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6309262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Multi-agent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communication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16361"/>
            <a:ext cx="6309262" cy="3143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33124" y="0"/>
            <a:ext cx="4358571" cy="6858000"/>
          </a:xfrm>
          <a:prstGeom prst="roundRect">
            <a:avLst>
              <a:gd name="adj" fmla="val 279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49059" y="2295227"/>
            <a:ext cx="3126701" cy="2267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Agent-to-agent messaging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Shared context and state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Message passing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Task handoff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Structured outputs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Context synchronization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Conflict resolution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283759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166475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08 · TOOLS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Tools and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Model Context Protocol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59236"/>
            <a:ext cx="10972526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226412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4050"/>
            <a:ext cx="160740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09 · STATE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8714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Memory and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state management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781572"/>
            <a:ext cx="2628834" cy="2157214"/>
          </a:xfrm>
          <a:prstGeom prst="rect">
            <a:avLst/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016522"/>
            <a:ext cx="100129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44529" y="2478782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8" name="Text 6"/>
          <p:cNvSpPr/>
          <p:nvPr/>
        </p:nvSpPr>
        <p:spPr>
          <a:xfrm>
            <a:off x="844529" y="2577207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Working memory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4529" y="3076277"/>
            <a:ext cx="2158946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Scratchpad for the current step.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90815" y="1781572"/>
            <a:ext cx="2628834" cy="2157214"/>
          </a:xfrm>
          <a:prstGeom prst="rect">
            <a:avLst/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5759" y="2016522"/>
            <a:ext cx="10729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625759" y="2478782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3" name="Text 11"/>
          <p:cNvSpPr/>
          <p:nvPr/>
        </p:nvSpPr>
        <p:spPr>
          <a:xfrm>
            <a:off x="3625759" y="2577207"/>
            <a:ext cx="215894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Conversation memory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5759" y="3384848"/>
            <a:ext cx="2393890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Turn history per session.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046" y="1781572"/>
            <a:ext cx="2628834" cy="2157214"/>
          </a:xfrm>
          <a:prstGeom prst="rect">
            <a:avLst/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6990" y="2016522"/>
            <a:ext cx="109118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06990" y="2478782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6990" y="2577207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Persistent memory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6990" y="3076277"/>
            <a:ext cx="2158946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Durable facts across sessions.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53276" y="1781572"/>
            <a:ext cx="2628834" cy="2157214"/>
          </a:xfrm>
          <a:prstGeom prst="rect">
            <a:avLst/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8220" y="2016522"/>
            <a:ext cx="110417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188220" y="2478782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3" name="Text 21"/>
          <p:cNvSpPr/>
          <p:nvPr/>
        </p:nvSpPr>
        <p:spPr>
          <a:xfrm>
            <a:off x="9188220" y="2577207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Vector databases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88220" y="3076277"/>
            <a:ext cx="2158946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Semantic retrieval of knowledge.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585" y="4091186"/>
            <a:ext cx="3555911" cy="2157214"/>
          </a:xfrm>
          <a:prstGeom prst="rect">
            <a:avLst/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529" y="4326136"/>
            <a:ext cx="109772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05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844529" y="4788396"/>
            <a:ext cx="3086023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8" name="Text 26"/>
          <p:cNvSpPr/>
          <p:nvPr/>
        </p:nvSpPr>
        <p:spPr>
          <a:xfrm>
            <a:off x="844529" y="4886821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Shared state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4529" y="5385891"/>
            <a:ext cx="332096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Common store agents read and write.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317892" y="4091186"/>
            <a:ext cx="3555911" cy="2157214"/>
          </a:xfrm>
          <a:prstGeom prst="rect">
            <a:avLst/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2836" y="4326136"/>
            <a:ext cx="110030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06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4552836" y="4788396"/>
            <a:ext cx="3086023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33" name="Text 31"/>
          <p:cNvSpPr/>
          <p:nvPr/>
        </p:nvSpPr>
        <p:spPr>
          <a:xfrm>
            <a:off x="4552836" y="4886821"/>
            <a:ext cx="308602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Context window management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52836" y="5694462"/>
            <a:ext cx="332096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Summarize, trim, and select.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026199" y="4091186"/>
            <a:ext cx="3555911" cy="2157214"/>
          </a:xfrm>
          <a:prstGeom prst="rect">
            <a:avLst/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61143" y="4326136"/>
            <a:ext cx="105536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07</a:t>
            </a:r>
            <a:endParaRPr lang="en-US" sz="3000" dirty="0"/>
          </a:p>
        </p:txBody>
      </p:sp>
      <p:sp>
        <p:nvSpPr>
          <p:cNvPr id="37" name="Shape 35"/>
          <p:cNvSpPr/>
          <p:nvPr/>
        </p:nvSpPr>
        <p:spPr>
          <a:xfrm>
            <a:off x="8261143" y="4788396"/>
            <a:ext cx="3086023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38" name="Text 36"/>
          <p:cNvSpPr/>
          <p:nvPr/>
        </p:nvSpPr>
        <p:spPr>
          <a:xfrm>
            <a:off x="8261143" y="4886821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Checkpointing and recovery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261143" y="5385891"/>
            <a:ext cx="332096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Resume a run after failure.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2026-10-04T13:00:38Z</dcterms:created>
  <dcterms:modified xsi:type="dcterms:W3CDTF">2026-10-04T13:00:38Z</dcterms:modified>
</cp:coreProperties>
</file>